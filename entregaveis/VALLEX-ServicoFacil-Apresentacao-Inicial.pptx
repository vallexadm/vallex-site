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72b035093546de" /><Relationship Type="http://schemas.openxmlformats.org/officeDocument/2006/relationships/extended-properties" Target="/docProps/app.xml" Id="Rcf9c66d6f6ed4470" /><Relationship Type="http://schemas.openxmlformats.org/officeDocument/2006/relationships/officeDocument" Target="/ppt/presentation.xml" Id="Rd2afd03695854a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ecd6b5144f449f"/>
  </p:sldMasterIdLst>
  <p:notesMasterIdLst>
    <p:notesMasterId xmlns:r="http://schemas.openxmlformats.org/officeDocument/2006/relationships" r:id="R2b0cfeac1e634c34"/>
  </p:notesMasterIdLst>
  <p:sldIdLst>
    <p:sldId xmlns:r="http://schemas.openxmlformats.org/officeDocument/2006/relationships" id="256" r:id="R5c4e055a03124724"/>
    <p:sldId xmlns:r="http://schemas.openxmlformats.org/officeDocument/2006/relationships" id="257" r:id="R227f41fc44014cb4"/>
    <p:sldId xmlns:r="http://schemas.openxmlformats.org/officeDocument/2006/relationships" id="258" r:id="R758ba52ae3be4aae"/>
    <p:sldId xmlns:r="http://schemas.openxmlformats.org/officeDocument/2006/relationships" id="259" r:id="R93a5498367024d3b"/>
    <p:sldId xmlns:r="http://schemas.openxmlformats.org/officeDocument/2006/relationships" id="260" r:id="R535665518c164956"/>
    <p:sldId xmlns:r="http://schemas.openxmlformats.org/officeDocument/2006/relationships" id="261" r:id="R0771ef0df29640e8"/>
    <p:sldId xmlns:r="http://schemas.openxmlformats.org/officeDocument/2006/relationships" id="262" r:id="R474e91be17334a9e"/>
    <p:sldId xmlns:r="http://schemas.openxmlformats.org/officeDocument/2006/relationships" id="263" r:id="R57cd5dc1df554668"/>
    <p:sldId xmlns:r="http://schemas.openxmlformats.org/officeDocument/2006/relationships" id="264" r:id="R382f6d3319a148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dbfb7a3e114e35" /><Relationship Type="http://schemas.openxmlformats.org/officeDocument/2006/relationships/slideMaster" Target="/ppt/slideMasters/slideMaster1.xml" Id="R95ecd6b5144f449f" /><Relationship Type="http://schemas.openxmlformats.org/officeDocument/2006/relationships/notesMaster" Target="/ppt/notesMasters/notesMaster1.xml" Id="R2b0cfeac1e634c34" /><Relationship Type="http://schemas.openxmlformats.org/officeDocument/2006/relationships/presProps" Target="/ppt/presProps.xml" Id="Rd3b11033e0414ab9" /><Relationship Type="http://schemas.openxmlformats.org/officeDocument/2006/relationships/tableStyles" Target="/ppt/tableStyles.xml" Id="Rd9842ffc84fe4743" /><Relationship Type="http://schemas.openxmlformats.org/officeDocument/2006/relationships/slide" Target="/ppt/slides/slide1.xml" Id="R5c4e055a03124724" /><Relationship Type="http://schemas.openxmlformats.org/officeDocument/2006/relationships/slide" Target="/ppt/slides/slide2.xml" Id="R227f41fc44014cb4" /><Relationship Type="http://schemas.openxmlformats.org/officeDocument/2006/relationships/slide" Target="/ppt/slides/slide3.xml" Id="R758ba52ae3be4aae" /><Relationship Type="http://schemas.openxmlformats.org/officeDocument/2006/relationships/slide" Target="/ppt/slides/slide4.xml" Id="R93a5498367024d3b" /><Relationship Type="http://schemas.openxmlformats.org/officeDocument/2006/relationships/slide" Target="/ppt/slides/slide5.xml" Id="R535665518c164956" /><Relationship Type="http://schemas.openxmlformats.org/officeDocument/2006/relationships/slide" Target="/ppt/slides/slide6.xml" Id="R0771ef0df29640e8" /><Relationship Type="http://schemas.openxmlformats.org/officeDocument/2006/relationships/slide" Target="/ppt/slides/slide7.xml" Id="R474e91be17334a9e" /><Relationship Type="http://schemas.openxmlformats.org/officeDocument/2006/relationships/slide" Target="/ppt/slides/slide8.xml" Id="R57cd5dc1df554668" /><Relationship Type="http://schemas.openxmlformats.org/officeDocument/2006/relationships/slide" Target="/ppt/slides/slide9.xml" Id="R382f6d3319a148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14f45ad4704e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340361ee68423a" /><Relationship Type="http://schemas.openxmlformats.org/officeDocument/2006/relationships/notesMaster" Target="/ppt/notesMasters/notesMaster1.xml" Id="R086452568b7a42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fb509a0751439e" /><Relationship Type="http://schemas.openxmlformats.org/officeDocument/2006/relationships/notesMaster" Target="/ppt/notesMasters/notesMaster1.xml" Id="R1616fba8e22645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2f1ef9edbf4935" /><Relationship Type="http://schemas.openxmlformats.org/officeDocument/2006/relationships/notesMaster" Target="/ppt/notesMasters/notesMaster1.xml" Id="R99693ce285ab49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e217cd898d400e" /><Relationship Type="http://schemas.openxmlformats.org/officeDocument/2006/relationships/notesMaster" Target="/ppt/notesMasters/notesMaster1.xml" Id="Raae279c2eaf14e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cee50decb44ad3" /><Relationship Type="http://schemas.openxmlformats.org/officeDocument/2006/relationships/notesMaster" Target="/ppt/notesMasters/notesMaster1.xml" Id="R6c853c60d6cc47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4487dfda1c406c" /><Relationship Type="http://schemas.openxmlformats.org/officeDocument/2006/relationships/notesMaster" Target="/ppt/notesMasters/notesMaster1.xml" Id="R385d85a3bd3f47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75751043e64280" /><Relationship Type="http://schemas.openxmlformats.org/officeDocument/2006/relationships/notesMaster" Target="/ppt/notesMasters/notesMaster1.xml" Id="Rd04dbdbd02f64a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39bb1d6f634ba8" /><Relationship Type="http://schemas.openxmlformats.org/officeDocument/2006/relationships/notesMaster" Target="/ppt/notesMasters/notesMaster1.xml" Id="Re231864b38a546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f332c1928047a0" /><Relationship Type="http://schemas.openxmlformats.org/officeDocument/2006/relationships/notesMaster" Target="/ppt/notesMasters/notesMaster1.xml" Id="Rd4add277819748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VALLEX ServiçoFácil está em evolução. Goiânia é o ponto de partida para conectar clientes e prestadores e oferecer ferramentas de organização.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Dados públicos são fornecidos e mantidos pelo prestador. Endereço é opcional; WhatsApp é requisito para publicar a vitrine.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custos internos de orçamento são para controle do prestador e não devem aparecer na proposta do cliente. O relatório é gerencial, não escrituração contábil.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o pagamento do serviço, combinado pelo cliente com o prestador, da assinatura da plataforma. O sistema não processa cobrança pelo serviço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Valores do cadastro de planos consultado em outubro de 2026: Free, Basic R$ 49,70 e Professional R$ 79,00 ao mês, com limites 1, 3 e 10 usuários. Reconferir antes de usar comercialmente.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b05f978ce4b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847c3f40d4a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1b60d1f5043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2091f7e604c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e90ee313c4f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90454377a46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31EE2B-6305-4FCC-B476-AC408A9CA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EB136E-DFD6-479C-BAE4-D286184993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E63594-DAD1-4BEF-9DBF-7946EBF3A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CEC189-1356-4A63-9FC2-67E175B833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4C926B-6306-4EE7-8703-D1ADA1AFE3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85DD75-62AC-4457-B7C5-C62209F057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29ECD9-E7D1-4D47-9C19-7E9E49B412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B924D7-98EA-43A5-89C8-D27D8C212B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733E88-C1A0-4A82-92A7-821D0D830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45BE68-E409-42A0-AC61-0137DF1AB8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bb276145af4f67" /><Relationship Type="http://schemas.openxmlformats.org/officeDocument/2006/relationships/slideLayout" Target="/ppt/slideLayouts/slideLayout1.xml" Id="Re48344dee990408e" /><Relationship Type="http://schemas.openxmlformats.org/officeDocument/2006/relationships/slideLayout" Target="/ppt/slideLayouts/slideLayout2.xml" Id="Rcdab291682f14522" /><Relationship Type="http://schemas.openxmlformats.org/officeDocument/2006/relationships/slideLayout" Target="/ppt/slideLayouts/slideLayout3.xml" Id="R56583766ec5d4ac7" /><Relationship Type="http://schemas.openxmlformats.org/officeDocument/2006/relationships/slideLayout" Target="/ppt/slideLayouts/slideLayout4.xml" Id="Rbf5316af1a804fb4" /><Relationship Type="http://schemas.openxmlformats.org/officeDocument/2006/relationships/slideLayout" Target="/ppt/slideLayouts/slideLayout5.xml" Id="Rca7249c0ac99465a" /><Relationship Type="http://schemas.openxmlformats.org/officeDocument/2006/relationships/slideLayout" Target="/ppt/slideLayouts/slideLayout6.xml" Id="Re1d1d159cd1f40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8344dee990408e"/>
    <p:sldLayoutId xmlns:r="http://schemas.openxmlformats.org/officeDocument/2006/relationships" id="2147483650" r:id="Rcdab291682f14522"/>
    <p:sldLayoutId xmlns:r="http://schemas.openxmlformats.org/officeDocument/2006/relationships" id="2147483651" r:id="R56583766ec5d4ac7"/>
    <p:sldLayoutId xmlns:r="http://schemas.openxmlformats.org/officeDocument/2006/relationships" id="2147483652" r:id="Rbf5316af1a804fb4"/>
    <p:sldLayoutId xmlns:r="http://schemas.openxmlformats.org/officeDocument/2006/relationships" id="2147483653" r:id="Rca7249c0ac99465a"/>
    <p:sldLayoutId xmlns:r="http://schemas.openxmlformats.org/officeDocument/2006/relationships" id="2147483654" r:id="Re1d1d159cd1f40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c718cb83c04fcc" /><Relationship Type="http://schemas.openxmlformats.org/officeDocument/2006/relationships/image" Target="/ppt/media/image.png" Id="R9ca04aee6fd64b72" /><Relationship Type="http://schemas.openxmlformats.org/officeDocument/2006/relationships/notesSlide" Target="/ppt/notesSlides/notesSlide1.xml" Id="R61d5f73788c249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e96c380de459b" /><Relationship Type="http://schemas.openxmlformats.org/officeDocument/2006/relationships/image" Target="/ppt/media/image2.png" Id="R90738701bc354240" /><Relationship Type="http://schemas.openxmlformats.org/officeDocument/2006/relationships/notesSlide" Target="/ppt/notesSlides/notesSlide2.xml" Id="R7a9655f8b17c4d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c42b00c804c6a" /><Relationship Type="http://schemas.openxmlformats.org/officeDocument/2006/relationships/image" Target="/ppt/media/image3.png" Id="Re05c17bf4b4f4c8e" /><Relationship Type="http://schemas.openxmlformats.org/officeDocument/2006/relationships/notesSlide" Target="/ppt/notesSlides/notesSlide3.xml" Id="R744035c1fcde49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87f554e884846" /><Relationship Type="http://schemas.openxmlformats.org/officeDocument/2006/relationships/image" Target="/ppt/media/image4.png" Id="Rc853f61dc35640bf" /><Relationship Type="http://schemas.openxmlformats.org/officeDocument/2006/relationships/notesSlide" Target="/ppt/notesSlides/notesSlide4.xml" Id="R264bc36b51c842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918b75a5344e1" /><Relationship Type="http://schemas.openxmlformats.org/officeDocument/2006/relationships/image" Target="/ppt/media/image5.png" Id="Rb578938a0a0d4696" /><Relationship Type="http://schemas.openxmlformats.org/officeDocument/2006/relationships/notesSlide" Target="/ppt/notesSlides/notesSlide5.xml" Id="R40f42751777e4a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bdcf0a62c4f69" /><Relationship Type="http://schemas.openxmlformats.org/officeDocument/2006/relationships/image" Target="/ppt/media/image6.png" Id="R9f20dbfcea814715" /><Relationship Type="http://schemas.openxmlformats.org/officeDocument/2006/relationships/notesSlide" Target="/ppt/notesSlides/notesSlide6.xml" Id="Ra4169e7861fc4b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86d9656e944b7" /><Relationship Type="http://schemas.openxmlformats.org/officeDocument/2006/relationships/notesSlide" Target="/ppt/notesSlides/notesSlide7.xml" Id="R94fee6d50b0946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de7aaa6764789" /><Relationship Type="http://schemas.openxmlformats.org/officeDocument/2006/relationships/image" Target="/ppt/media/image7.png" Id="R373c910dadb04838" /><Relationship Type="http://schemas.openxmlformats.org/officeDocument/2006/relationships/notesSlide" Target="/ppt/notesSlides/notesSlide8.xml" Id="R462b47901ade48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5a81845b74a3c" /><Relationship Type="http://schemas.openxmlformats.org/officeDocument/2006/relationships/image" Target="/ppt/media/image8.png" Id="R23736aed46ea4abc" /><Relationship Type="http://schemas.openxmlformats.org/officeDocument/2006/relationships/notesSlide" Target="/ppt/notesSlides/notesSlide9.xml" Id="R3bb8cc5892d346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00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81C2C-3A47-468D-8372-2424E5C016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04aee6fd64b72"/>
          <a:stretch xmlns:a="http://schemas.openxmlformats.org/drawingml/2006/main"/>
        </p:blipFill>
        <p:spPr>
          <a:xfrm xmlns:a="http://schemas.openxmlformats.org/drawingml/2006/main">
            <a:off x="1226414" y="628650"/>
            <a:ext cx="1319073" cy="1066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133A2-0DF7-4AF5-9CDD-BFBB8269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2D00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23C4F-DB2B-4DEE-8037-493EAF77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D98AFF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8AFF"/>
                </a:solidFill>
              </a:defRPr>
            </a:pPr>
            <a:r>
              <a:rPr sz="1275" b="1">
                <a:solidFill>
                  <a:srgbClr val="D98AFF"/>
                </a:solidFill>
              </a:rPr>
              <a:t>SERVIÇOFÁCIL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1CFBB-42DB-45CF-9294-87943157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7429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Uma vitrine para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conectar serviços e pessoas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D1E00-A56B-4B77-86CD-DEF03F0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E7DCEC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E7DCEC"/>
                </a:solidFill>
              </a:defRPr>
            </a:pPr>
            <a:r>
              <a:rPr sz="1650" b="0">
                <a:solidFill>
                  <a:srgbClr val="E7DCEC"/>
                </a:solidFill>
              </a:rPr>
              <a:t>Apresentação inicial para clientes e prestadores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1AEBF-744E-4016-810D-55AAEED0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CDBED7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DBED7"/>
                </a:solidFill>
              </a:defRPr>
            </a:pPr>
            <a:r>
              <a:rPr sz="1125" b="0">
                <a:solidFill>
                  <a:srgbClr val="CDBED7"/>
                </a:solidFill>
              </a:rPr>
              <a:t>Goiânia, GO • outubro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31FF7-97AD-4F4D-A123-47E666CB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D98AFF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98AFF"/>
                </a:solidFill>
              </a:defRPr>
            </a:pPr>
            <a:r>
              <a:rPr sz="1500" b="0">
                <a:solidFill>
                  <a:srgbClr val="D98AFF"/>
                </a:solidFill>
              </a:rPr>
              <a:t>Tecnologia e soluções ao seu alcance</a:t>
            </a:r>
          </a:p>
        </p:txBody>
      </p:sp>
    </p:spTree>
    <p:extLst>
      <p:ext uri="{BB962C8B-B14F-4D97-AF65-F5344CB8AC3E}">
        <p14:creationId xmlns:p14="http://schemas.microsoft.com/office/powerpoint/2010/main" val="2108591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8F4B8-EA67-44BE-8492-CC6571FE15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38701bc354240"/>
          <a:stretch xmlns:a="http://schemas.openxmlformats.org/drawingml/2006/main"/>
        </p:blipFill>
        <p:spPr>
          <a:xfrm xmlns:a="http://schemas.openxmlformats.org/drawingml/2006/main">
            <a:off x="864846" y="285750"/>
            <a:ext cx="518207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BA1C7-017E-47CB-B4C4-3BFD8560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8500D5"/>
                </a:solidFill>
              </a:defRPr>
            </a:pPr>
            <a:r>
              <a:rPr sz="975" b="1">
                <a:solidFill>
                  <a:srgbClr val="8500D5"/>
                </a:solidFill>
              </a:rPr>
              <a:t>A PROPOSTA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5D2C1-1373-41A9-A5DB-84780163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074A1-10AA-42BB-B099-A72C98F1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D5366"/>
                </a:solidFill>
              </a:defRPr>
            </a:pPr>
            <a:r>
              <a:rPr sz="750" b="0">
                <a:solidFill>
                  <a:srgbClr val="5D5366"/>
                </a:solidFill>
              </a:rPr>
              <a:t>VALLEX SERVIÇOFÁCIL • APRESENTAÇÃO INICIAL • OUT/2026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01E97-3CED-44D1-B52D-6DAA65DF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D5366"/>
                </a:solidFill>
              </a:defRPr>
            </a:pPr>
            <a:r>
              <a:rPr sz="825" b="1">
                <a:solidFill>
                  <a:srgbClr val="5D536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37E05-80B7-4DEF-AD78-E563DB6E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9002D"/>
                </a:solidFill>
              </a:defRPr>
            </a:pPr>
            <a:r>
              <a:rPr sz="2925" b="1">
                <a:solidFill>
                  <a:srgbClr val="19002D"/>
                </a:solidFill>
              </a:rPr>
              <a:t>Serviços locais com mais clareza para encontrar e organizar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B1085-9797-454E-BFC3-891DD1DA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5366"/>
                </a:solidFill>
              </a:defRPr>
            </a:pPr>
            <a:r>
              <a:rPr sz="1500" b="0">
                <a:solidFill>
                  <a:srgbClr val="5D5366"/>
                </a:solidFill>
              </a:rPr>
              <a:t>A VALLEX aproxima quem procura um serviço de profissionais independentes e oferece ao prestador uma vitrine digital e ferramentas de gestão.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2467A-C783-4888-9E51-E25960C3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285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0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D5968-F969-4212-9BF2-233BB6A2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8500D5"/>
                </a:solidFill>
              </a:defRPr>
            </a:pPr>
            <a:r>
              <a:rPr sz="1575" b="1">
                <a:solidFill>
                  <a:srgbClr val="8500D5"/>
                </a:solidFill>
              </a:rPr>
              <a:t>Para clientes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BAAC0-4520-4D08-9630-2254D5A9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67125"/>
            <a:ext cx="4333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9002D"/>
                </a:solidFill>
              </a:defRPr>
            </a:pPr>
            <a:r>
              <a:rPr sz="1350" b="0">
                <a:solidFill>
                  <a:srgbClr val="19002D"/>
                </a:solidFill>
              </a:rPr>
              <a:t>Pesquisar por serviço e localidade, conhecer a apresentação pública e enviar uma solicitação de orçamento.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FD906-2706-45DF-B057-E11A7149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285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9DB00-B994-4483-A4F1-E2122C21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238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8500D5"/>
                </a:solidFill>
              </a:defRPr>
            </a:pPr>
            <a:r>
              <a:rPr sz="1575" b="1">
                <a:solidFill>
                  <a:srgbClr val="8500D5"/>
                </a:solidFill>
              </a:rPr>
              <a:t>Para prestadores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335AC-48DC-43B1-AD31-88F30409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67125"/>
            <a:ext cx="4333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9002D"/>
                </a:solidFill>
              </a:defRPr>
            </a:pPr>
            <a:r>
              <a:rPr sz="1350" b="0">
                <a:solidFill>
                  <a:srgbClr val="19002D"/>
                </a:solidFill>
              </a:rPr>
              <a:t>Divulgar serviços, receber pedidos e organizar clientes, agenda e controles financeiros em um só ambiente.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A8607-322C-4ABD-A3F6-F13F0F6D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5366"/>
                </a:solidFill>
              </a:defRPr>
            </a:pPr>
            <a:r>
              <a:rPr sz="1200" b="0">
                <a:solidFill>
                  <a:srgbClr val="5D5366"/>
                </a:solidFill>
              </a:rPr>
              <a:t>Começamos por Goiânia e região; a busca se amplia conforme os prestadores informam novas localidades.</a:t>
            </a:r>
          </a:p>
        </p:txBody>
      </p:sp>
    </p:spTree>
    <p:extLst>
      <p:ext uri="{BB962C8B-B14F-4D97-AF65-F5344CB8AC3E}">
        <p14:creationId xmlns:p14="http://schemas.microsoft.com/office/powerpoint/2010/main" val="1337953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F5E71A-05EA-4D5B-BDE1-6DD401DD1D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c17bf4b4f4c8e"/>
          <a:stretch xmlns:a="http://schemas.openxmlformats.org/drawingml/2006/main"/>
        </p:blipFill>
        <p:spPr>
          <a:xfrm xmlns:a="http://schemas.openxmlformats.org/drawingml/2006/main">
            <a:off x="864846" y="285750"/>
            <a:ext cx="518207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D2923-9D07-43BF-9771-E8972F4B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8500D5"/>
                </a:solidFill>
              </a:defRPr>
            </a:pPr>
            <a:r>
              <a:rPr sz="975" b="1">
                <a:solidFill>
                  <a:srgbClr val="8500D5"/>
                </a:solidFill>
              </a:rPr>
              <a:t>DESCOBERTA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010A1-408F-4A1A-AEA8-6C0055A0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CDE25-CAEA-4E49-84A4-E72FBBBB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D5366"/>
                </a:solidFill>
              </a:defRPr>
            </a:pPr>
            <a:r>
              <a:rPr sz="750" b="0">
                <a:solidFill>
                  <a:srgbClr val="5D5366"/>
                </a:solidFill>
              </a:rPr>
              <a:t>VALLEX SERVIÇOFÁCIL • APRESENTAÇÃO INICIAL • OUT/2026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388A5-0DBF-4F6E-8044-516F3001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D5366"/>
                </a:solidFill>
              </a:defRPr>
            </a:pPr>
            <a:r>
              <a:rPr sz="825" b="1">
                <a:solidFill>
                  <a:srgbClr val="5D5366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ADC6F-9021-4B9A-BE62-8BC73BBE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9002D"/>
                </a:solidFill>
              </a:defRPr>
            </a:pPr>
            <a:r>
              <a:rPr sz="2925" b="1">
                <a:solidFill>
                  <a:srgbClr val="19002D"/>
                </a:solidFill>
              </a:rPr>
              <a:t>O cliente encontra o perfil adequado à sua necessidade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60687-BC1A-4567-A791-602E214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5366"/>
                </a:solidFill>
              </a:defRPr>
            </a:pPr>
            <a:r>
              <a:rPr sz="1500" b="0">
                <a:solidFill>
                  <a:srgbClr val="5D5366"/>
                </a:solidFill>
              </a:rPr>
              <a:t>A busca combina nome ou serviço, tipo de atendimento e cidade ou região.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61479-DF24-46CE-BEC7-05205EBA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500D5"/>
                </a:solidFill>
              </a:defRPr>
            </a:pPr>
            <a:r>
              <a:rPr sz="1500" b="1">
                <a:solidFill>
                  <a:srgbClr val="8500D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EA9C5-0E73-43B1-A55D-EA80C32F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6726C-1CEE-4F91-B72A-6BC9C47E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9002D"/>
                </a:solidFill>
              </a:defRPr>
            </a:pPr>
            <a:r>
              <a:rPr sz="1875" b="1">
                <a:solidFill>
                  <a:srgbClr val="19002D"/>
                </a:solidFill>
              </a:rPr>
              <a:t>Buscar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9B2A1-8FE2-40C0-8319-C91CA218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5366"/>
                </a:solidFill>
              </a:defRPr>
            </a:pPr>
            <a:r>
              <a:rPr sz="1275" b="0">
                <a:solidFill>
                  <a:srgbClr val="5D5366"/>
                </a:solidFill>
              </a:rPr>
              <a:t>Nome, serviço, categoria e localidade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A9F5F-55EC-4EC3-A479-3EA09446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004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500D5"/>
                </a:solidFill>
              </a:defRPr>
            </a:pPr>
            <a:r>
              <a:rPr sz="1500" b="1">
                <a:solidFill>
                  <a:srgbClr val="8500D5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531E8-BCDE-4AB5-AFAD-94BACCFE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004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35AF7-BBC1-46C7-B306-6B360019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004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9002D"/>
                </a:solidFill>
              </a:defRPr>
            </a:pPr>
            <a:r>
              <a:rPr sz="1875" b="1">
                <a:solidFill>
                  <a:srgbClr val="19002D"/>
                </a:solidFill>
              </a:rPr>
              <a:t>Conhecer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43609-EBA3-4131-84FD-EAFD0220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5366"/>
                </a:solidFill>
              </a:defRPr>
            </a:pPr>
            <a:r>
              <a:rPr sz="1275" b="0">
                <a:solidFill>
                  <a:srgbClr val="5D5366"/>
                </a:solidFill>
              </a:rPr>
              <a:t>Descrição, serviços e modalidades do prestador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05422-31F6-434D-99B0-DE35DDAF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04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500D5"/>
                </a:solidFill>
              </a:defRPr>
            </a:pPr>
            <a:r>
              <a:rPr sz="1500" b="1">
                <a:solidFill>
                  <a:srgbClr val="8500D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6C085-DE3A-49C9-ADC6-EF2A2F0F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4226A-00C8-4FF6-A3E6-506F1FFC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004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9002D"/>
                </a:solidFill>
              </a:defRPr>
            </a:pPr>
            <a:r>
              <a:rPr sz="1875" b="1">
                <a:solidFill>
                  <a:srgbClr val="19002D"/>
                </a:solidFill>
              </a:rPr>
              <a:t>Solicitar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3E192-B6ED-4A25-B045-FB5A8373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862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5366"/>
                </a:solidFill>
              </a:defRPr>
            </a:pPr>
            <a:r>
              <a:rPr sz="1275" b="0">
                <a:solidFill>
                  <a:srgbClr val="5D5366"/>
                </a:solidFill>
              </a:rPr>
              <a:t>Pedido de orçamento enviado ao prestador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53054-9165-49EF-B569-0DA3C37D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9002D"/>
                </a:solidFill>
              </a:defRPr>
            </a:pPr>
            <a:r>
              <a:rPr sz="1275" b="1">
                <a:solidFill>
                  <a:srgbClr val="19002D"/>
                </a:solidFill>
              </a:rPr>
              <a:t>Contato, disponibilidade e termos são alinhados diretamente entre cliente e prestador.</a:t>
            </a:r>
          </a:p>
        </p:txBody>
      </p:sp>
    </p:spTree>
    <p:extLst>
      <p:ext uri="{BB962C8B-B14F-4D97-AF65-F5344CB8AC3E}">
        <p14:creationId xmlns:p14="http://schemas.microsoft.com/office/powerpoint/2010/main" val="141404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1128B-60E3-4280-9D26-D0164C4BAE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3f61dc35640bf"/>
          <a:stretch xmlns:a="http://schemas.openxmlformats.org/drawingml/2006/main"/>
        </p:blipFill>
        <p:spPr>
          <a:xfrm xmlns:a="http://schemas.openxmlformats.org/drawingml/2006/main">
            <a:off x="864846" y="285750"/>
            <a:ext cx="518207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31E92-D20F-4CB6-B742-927F2C3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8500D5"/>
                </a:solidFill>
              </a:defRPr>
            </a:pPr>
            <a:r>
              <a:rPr sz="975" b="1">
                <a:solidFill>
                  <a:srgbClr val="8500D5"/>
                </a:solidFill>
              </a:rPr>
              <a:t>VITRINE DO PRESTADOR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08C57-85C7-4F05-95BF-0753C28A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EBEE1-F865-4B64-A5BF-BED08C1D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D5366"/>
                </a:solidFill>
              </a:defRPr>
            </a:pPr>
            <a:r>
              <a:rPr sz="750" b="0">
                <a:solidFill>
                  <a:srgbClr val="5D5366"/>
                </a:solidFill>
              </a:rPr>
              <a:t>VALLEX SERVIÇOFÁCIL • APRESENTAÇÃO INICIAL • OUT/2026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21FB1-A454-406D-892D-7011FB94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D5366"/>
                </a:solidFill>
              </a:defRPr>
            </a:pPr>
            <a:r>
              <a:rPr sz="825" b="1">
                <a:solidFill>
                  <a:srgbClr val="5D5366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EC8CF-7306-49CB-83A4-49D5E817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9002D"/>
                </a:solidFill>
              </a:defRPr>
            </a:pPr>
            <a:r>
              <a:rPr sz="2925" b="1">
                <a:solidFill>
                  <a:srgbClr val="19002D"/>
                </a:solidFill>
              </a:rPr>
              <a:t>Uma apresentação pública construída pelo profissional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F8E2D-72BF-45AC-BDC0-27AE9FBD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D5366"/>
                </a:solidFill>
              </a:defRPr>
            </a:pPr>
            <a:r>
              <a:rPr sz="1425" b="0">
                <a:solidFill>
                  <a:srgbClr val="5D5366"/>
                </a:solidFill>
              </a:rPr>
              <a:t>O perfil reúne informações para o cliente decidir se deseja entrar em contato.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38260-47B9-4734-907E-17DA05EF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500D5"/>
                </a:solidFill>
              </a:defRPr>
            </a:pPr>
            <a:r>
              <a:rPr sz="1275" b="1">
                <a:solidFill>
                  <a:srgbClr val="8500D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E43F5-E58A-43A9-B510-C3E5FC04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002D"/>
                </a:solidFill>
              </a:defRPr>
            </a:pPr>
            <a:r>
              <a:rPr sz="1575" b="1">
                <a:solidFill>
                  <a:srgbClr val="19002D"/>
                </a:solidFill>
              </a:rPr>
              <a:t>Identidade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1C22E-3B40-43AC-A8E2-E67BC473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4238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5366"/>
                </a:solidFill>
              </a:defRPr>
            </a:pPr>
            <a:r>
              <a:rPr sz="1200" b="0">
                <a:solidFill>
                  <a:srgbClr val="5D5366"/>
                </a:solidFill>
              </a:rPr>
              <a:t>Nome de exibição, descrição, logo ou imagem, se houver.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5BCDC-DFC9-449E-8F32-C025F4DB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33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500D5"/>
                </a:solidFill>
              </a:defRPr>
            </a:pPr>
            <a:r>
              <a:rPr sz="1275" b="1">
                <a:solidFill>
                  <a:srgbClr val="8500D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B0238-778E-4955-BC40-E06DD2F6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002D"/>
                </a:solidFill>
              </a:defRPr>
            </a:pPr>
            <a:r>
              <a:rPr sz="1575" b="1">
                <a:solidFill>
                  <a:srgbClr val="19002D"/>
                </a:solidFill>
              </a:rPr>
              <a:t>Atendimento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CD5EB-8710-4186-9C4E-E0FC556A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4238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5366"/>
                </a:solidFill>
              </a:defRPr>
            </a:pPr>
            <a:r>
              <a:rPr sz="1200" b="0">
                <a:solidFill>
                  <a:srgbClr val="5D5366"/>
                </a:solidFill>
              </a:rPr>
              <a:t>Serviços, cidade, região e modalidades: local, em domicílio ou online.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4DB51-17D1-437D-8BD2-16983593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500D5"/>
                </a:solidFill>
              </a:defRPr>
            </a:pPr>
            <a:r>
              <a:rPr sz="1275" b="1">
                <a:solidFill>
                  <a:srgbClr val="8500D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6BB1D-51C1-4563-A7E2-98227E18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243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002D"/>
                </a:solidFill>
              </a:defRPr>
            </a:pPr>
            <a:r>
              <a:rPr sz="1575" b="1">
                <a:solidFill>
                  <a:srgbClr val="19002D"/>
                </a:solidFill>
              </a:rPr>
              <a:t>Contato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9BE01-8ED6-4E2C-9109-5747EE47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238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5366"/>
                </a:solidFill>
              </a:defRPr>
            </a:pPr>
            <a:r>
              <a:rPr sz="1200" b="0">
                <a:solidFill>
                  <a:srgbClr val="5D5366"/>
                </a:solidFill>
              </a:rPr>
              <a:t>WhatsApp obrigatório para publicar; telefone e e-mail conforme configuração.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51958-40E8-4C48-ADFA-5F41AA1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2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500D5"/>
                </a:solidFill>
              </a:defRPr>
            </a:pPr>
            <a:r>
              <a:rPr sz="1275" b="1">
                <a:solidFill>
                  <a:srgbClr val="8500D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4F6FB-2550-44F0-B0A0-011D6C1C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243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002D"/>
                </a:solidFill>
              </a:defRPr>
            </a:pPr>
            <a:r>
              <a:rPr sz="1575" b="1">
                <a:solidFill>
                  <a:srgbClr val="19002D"/>
                </a:solidFill>
              </a:rPr>
              <a:t>Privacidade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BB3E3-2F43-4F62-975F-F967BEE2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05350"/>
            <a:ext cx="4238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5366"/>
                </a:solidFill>
              </a:defRPr>
            </a:pPr>
            <a:r>
              <a:rPr sz="1200" b="0">
                <a:solidFill>
                  <a:srgbClr val="5D5366"/>
                </a:solidFill>
              </a:rPr>
              <a:t>Endereço público opcional. O prestador escolhe o que divulgar.</a:t>
            </a:r>
          </a:p>
        </p:txBody>
      </p:sp>
    </p:spTree>
    <p:extLst>
      <p:ext uri="{BB962C8B-B14F-4D97-AF65-F5344CB8AC3E}">
        <p14:creationId xmlns:p14="http://schemas.microsoft.com/office/powerpoint/2010/main" val="11473763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D614A-F116-45AA-9574-05EDF94477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8938a0a0d4696"/>
          <a:stretch xmlns:a="http://schemas.openxmlformats.org/drawingml/2006/main"/>
        </p:blipFill>
        <p:spPr>
          <a:xfrm xmlns:a="http://schemas.openxmlformats.org/drawingml/2006/main">
            <a:off x="864846" y="285750"/>
            <a:ext cx="518207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B21E6-21B1-43AD-A3D8-83349F8D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8500D5"/>
                </a:solidFill>
              </a:defRPr>
            </a:pPr>
            <a:r>
              <a:rPr sz="975" b="1">
                <a:solidFill>
                  <a:srgbClr val="8500D5"/>
                </a:solidFill>
              </a:rPr>
              <a:t>PAINEL DE GESTÃO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41735-3547-4336-AC68-3F2ACB8B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A7F28-14CB-4716-99D6-36117DDF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D5366"/>
                </a:solidFill>
              </a:defRPr>
            </a:pPr>
            <a:r>
              <a:rPr sz="750" b="0">
                <a:solidFill>
                  <a:srgbClr val="5D5366"/>
                </a:solidFill>
              </a:rPr>
              <a:t>VALLEX SERVIÇOFÁCIL • APRESENTAÇÃO INICIAL • OUT/2026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02F1D-9E31-4BBA-9BBD-5E5C00EE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D5366"/>
                </a:solidFill>
              </a:defRPr>
            </a:pPr>
            <a:r>
              <a:rPr sz="825" b="1">
                <a:solidFill>
                  <a:srgbClr val="5D5366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354E8-9D25-488E-BD25-F9BA66D9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9002D"/>
                </a:solidFill>
              </a:defRPr>
            </a:pPr>
            <a:r>
              <a:rPr sz="2925" b="1">
                <a:solidFill>
                  <a:srgbClr val="19002D"/>
                </a:solidFill>
              </a:rPr>
              <a:t>Ferramentas para acompanhar a rotina do negócio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F35EC-CE6A-4E67-8729-53A52D8B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500D5"/>
                </a:solidFill>
              </a:defRPr>
            </a:pPr>
            <a:r>
              <a:rPr sz="1350" b="1">
                <a:solidFill>
                  <a:srgbClr val="8500D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6B58F-0DC1-4901-8D58-29212F4E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384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9002D"/>
                </a:solidFill>
              </a:defRPr>
            </a:pPr>
            <a:r>
              <a:rPr sz="1725" b="1">
                <a:solidFill>
                  <a:srgbClr val="19002D"/>
                </a:solidFill>
              </a:rPr>
              <a:t>Solicitações e orçamentos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FC524-A99A-4C7A-AD17-D678E4CD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479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5366"/>
                </a:solidFill>
              </a:defRPr>
            </a:pPr>
            <a:r>
              <a:rPr sz="1275" b="0">
                <a:solidFill>
                  <a:srgbClr val="5D5366"/>
                </a:solidFill>
              </a:rPr>
              <a:t>Acompanhar pedidos, revisar propostas e conversar com clientes.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184C8-4E15-4113-82F3-EAB22092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384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500D5"/>
                </a:solidFill>
              </a:defRPr>
            </a:pPr>
            <a:r>
              <a:rPr sz="1350" b="1">
                <a:solidFill>
                  <a:srgbClr val="8500D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1B546-547A-460E-A6BA-7AB3DE2B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384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9002D"/>
                </a:solidFill>
              </a:defRPr>
            </a:pPr>
            <a:r>
              <a:rPr sz="1725" b="1">
                <a:solidFill>
                  <a:srgbClr val="19002D"/>
                </a:solidFill>
              </a:rPr>
              <a:t>Clientes e agenda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FCE07-64C8-42E8-A95D-301E1030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479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5366"/>
                </a:solidFill>
              </a:defRPr>
            </a:pPr>
            <a:r>
              <a:rPr sz="1275" b="0">
                <a:solidFill>
                  <a:srgbClr val="5D5366"/>
                </a:solidFill>
              </a:rPr>
              <a:t>Organizar cadastros e atendimentos e atribuir à equipe.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4277D-5CE9-4BC9-B635-4CDE1F5A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500D5"/>
                </a:solidFill>
              </a:defRPr>
            </a:pPr>
            <a:r>
              <a:rPr sz="1350" b="1">
                <a:solidFill>
                  <a:srgbClr val="8500D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39D10-A566-49CA-852A-C8CECE92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9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9002D"/>
                </a:solidFill>
              </a:defRPr>
            </a:pPr>
            <a:r>
              <a:rPr sz="1725" b="1">
                <a:solidFill>
                  <a:srgbClr val="19002D"/>
                </a:solidFill>
              </a:rPr>
              <a:t>Equipe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62D26-A0A7-4546-9F13-75F84AFD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2912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5366"/>
                </a:solidFill>
              </a:defRPr>
            </a:pPr>
            <a:r>
              <a:rPr sz="1275" b="0">
                <a:solidFill>
                  <a:srgbClr val="5D5366"/>
                </a:solidFill>
              </a:rPr>
              <a:t>Convidar colaboradores com acesso conforme o plano.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AD23A-311D-4027-A0B1-291CEF67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19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500D5"/>
                </a:solidFill>
              </a:defRPr>
            </a:pPr>
            <a:r>
              <a:rPr sz="1350" b="1">
                <a:solidFill>
                  <a:srgbClr val="8500D5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2F8C1-A7DC-4856-95F2-7E734DAA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19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9002D"/>
                </a:solidFill>
              </a:defRPr>
            </a:pPr>
            <a:r>
              <a:rPr sz="1725" b="1">
                <a:solidFill>
                  <a:srgbClr val="19002D"/>
                </a:solidFill>
              </a:rPr>
              <a:t>Financeiro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609F8-46DB-4A65-A7CA-F5E0A29B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42912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5366"/>
                </a:solidFill>
              </a:defRPr>
            </a:pPr>
            <a:r>
              <a:rPr sz="1275" b="0">
                <a:solidFill>
                  <a:srgbClr val="5D5366"/>
                </a:solidFill>
              </a:rPr>
              <a:t>Registrar serviços, parcelas, despesas, contas e relatórios.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97E43-8F9C-4506-84C4-C06E7ABA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D5366"/>
                </a:solidFill>
              </a:defRPr>
            </a:pPr>
            <a:r>
              <a:rPr sz="1125" b="0">
                <a:solidFill>
                  <a:srgbClr val="5D5366"/>
                </a:solidFill>
              </a:rPr>
              <a:t>Os recursos disponíveis variam conforme o plano.</a:t>
            </a:r>
          </a:p>
        </p:txBody>
      </p:sp>
    </p:spTree>
    <p:extLst>
      <p:ext uri="{BB962C8B-B14F-4D97-AF65-F5344CB8AC3E}">
        <p14:creationId xmlns:p14="http://schemas.microsoft.com/office/powerpoint/2010/main" val="1995837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20F3D1-4B5F-4EA8-B8ED-CE9E186280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0dbfcea814715"/>
          <a:stretch xmlns:a="http://schemas.openxmlformats.org/drawingml/2006/main"/>
        </p:blipFill>
        <p:spPr>
          <a:xfrm xmlns:a="http://schemas.openxmlformats.org/drawingml/2006/main">
            <a:off x="864846" y="285750"/>
            <a:ext cx="518207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663F5-4131-4AE2-9107-5E9F0C96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8500D5"/>
                </a:solidFill>
              </a:defRPr>
            </a:pPr>
            <a:r>
              <a:rPr sz="975" b="1">
                <a:solidFill>
                  <a:srgbClr val="8500D5"/>
                </a:solidFill>
              </a:rPr>
              <a:t>FINANCEIRO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980A8-CACD-4E00-969F-ED2F5273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B4EC9-1775-46D7-9ED2-667E5C9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D5366"/>
                </a:solidFill>
              </a:defRPr>
            </a:pPr>
            <a:r>
              <a:rPr sz="750" b="0">
                <a:solidFill>
                  <a:srgbClr val="5D5366"/>
                </a:solidFill>
              </a:rPr>
              <a:t>VALLEX SERVIÇOFÁCIL • APRESENTAÇÃO INICIAL • OUT/2026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DF2EF-F643-49F6-B9B9-D8FC3D8B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D5366"/>
                </a:solidFill>
              </a:defRPr>
            </a:pPr>
            <a:r>
              <a:rPr sz="825" b="1">
                <a:solidFill>
                  <a:srgbClr val="5D5366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9FEAF-487F-4F03-896D-23D1E684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9002D"/>
                </a:solidFill>
              </a:defRPr>
            </a:pPr>
            <a:r>
              <a:rPr sz="2850" b="1">
                <a:solidFill>
                  <a:srgbClr val="19002D"/>
                </a:solidFill>
              </a:rPr>
              <a:t>Visibilidade sobre entradas, custos e compromissos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A2AB2-8E32-4879-A76C-B2E31495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D5366"/>
                </a:solidFill>
              </a:defRPr>
            </a:pPr>
            <a:r>
              <a:rPr sz="1425" b="0">
                <a:solidFill>
                  <a:srgbClr val="5D5366"/>
                </a:solidFill>
              </a:rPr>
              <a:t>O prestador registra dados do negócio e acompanha indicadores operacionais no período escolhido.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6A90C-A089-4FC6-8621-C0720DA0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9667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EDD8F-55E8-423C-995F-C53B03B9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8500D5"/>
                </a:solidFill>
              </a:defRPr>
            </a:pPr>
            <a:r>
              <a:rPr sz="1425" b="1">
                <a:solidFill>
                  <a:srgbClr val="8500D5"/>
                </a:solidFill>
              </a:rPr>
              <a:t>Receitas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8492C-8175-4279-947C-C10478E2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9002D"/>
                </a:solidFill>
              </a:defRPr>
            </a:pPr>
            <a:r>
              <a:rPr sz="1275" b="0">
                <a:solidFill>
                  <a:srgbClr val="19002D"/>
                </a:solidFill>
              </a:rPr>
              <a:t>Valor cobrado, recebido, parcelas e saldo a receber.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45ECF-DF49-44E4-90F4-3070E49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9667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6FE1A-BADD-4F03-BB93-4021B38C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8500D5"/>
                </a:solidFill>
              </a:defRPr>
            </a:pPr>
            <a:r>
              <a:rPr sz="1425" b="1">
                <a:solidFill>
                  <a:srgbClr val="8500D5"/>
                </a:solidFill>
              </a:rPr>
              <a:t>Saídas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1F1DA-30CF-4270-8B33-B4C93D13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9087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9002D"/>
                </a:solidFill>
              </a:defRPr>
            </a:pPr>
            <a:r>
              <a:rPr sz="1275" b="0">
                <a:solidFill>
                  <a:srgbClr val="19002D"/>
                </a:solidFill>
              </a:rPr>
              <a:t>Custos diretos por item, despesas gerais e contas programadas.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77BDA-4301-49D5-B7C8-E1594D2E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9667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F32D6-4089-47D4-A8E1-B09D9809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8500D5"/>
                </a:solidFill>
              </a:defRPr>
            </a:pPr>
            <a:r>
              <a:rPr sz="1425" b="1">
                <a:solidFill>
                  <a:srgbClr val="8500D5"/>
                </a:solidFill>
              </a:rPr>
              <a:t>Locomoção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6E67C-71B9-4E76-A351-D15C2BDD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6237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9002D"/>
                </a:solidFill>
              </a:defRPr>
            </a:pPr>
            <a:r>
              <a:rPr sz="1275" b="0">
                <a:solidFill>
                  <a:srgbClr val="19002D"/>
                </a:solidFill>
              </a:rPr>
              <a:t>Estimativa de combustível por distância, consumo e preço informado.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24BC7-C7C5-4736-BA46-A70DF9ED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9667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DC086-C1D3-47F3-80DA-FBD293FA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8500D5"/>
                </a:solidFill>
              </a:defRPr>
            </a:pPr>
            <a:r>
              <a:rPr sz="1425" b="1">
                <a:solidFill>
                  <a:srgbClr val="8500D5"/>
                </a:solidFill>
              </a:rPr>
              <a:t>Período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23EC9-302E-4174-9028-0506C72E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9002D"/>
                </a:solidFill>
              </a:defRPr>
            </a:pPr>
            <a:r>
              <a:rPr sz="1275" b="0">
                <a:solidFill>
                  <a:srgbClr val="19002D"/>
                </a:solidFill>
              </a:rPr>
              <a:t>Filtros por dia, mês, ano ou intervalo; resultado e saldo estimados.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978DE-AF41-4656-B31A-550D252F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9667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FDC148-61D1-44C0-86F4-91913E62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8500D5"/>
                </a:solidFill>
              </a:defRPr>
            </a:pPr>
            <a:r>
              <a:rPr sz="1425" b="1">
                <a:solidFill>
                  <a:srgbClr val="8500D5"/>
                </a:solidFill>
              </a:rPr>
              <a:t>Relatórios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D29AB-4CBA-454F-B079-670BC1E9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0537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9002D"/>
                </a:solidFill>
              </a:defRPr>
            </a:pPr>
            <a:r>
              <a:rPr sz="1275" b="0">
                <a:solidFill>
                  <a:srgbClr val="19002D"/>
                </a:solidFill>
              </a:rPr>
              <a:t>Exportação CSV e impressão/salvamento local em PDF.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2B6E5A-1F4F-41D5-90A9-90FFEC07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5366"/>
                </a:solidFill>
              </a:defRPr>
            </a:pPr>
            <a:r>
              <a:rPr sz="1050" b="0">
                <a:solidFill>
                  <a:srgbClr val="5D5366"/>
                </a:solidFill>
              </a:rPr>
              <a:t>São controles gerenciais baseados nos lançamentos do prestador; não substituem contabilidade ou orientação fiscal.</a:t>
            </a:r>
          </a:p>
        </p:txBody>
      </p:sp>
    </p:spTree>
    <p:extLst>
      <p:ext uri="{BB962C8B-B14F-4D97-AF65-F5344CB8AC3E}">
        <p14:creationId xmlns:p14="http://schemas.microsoft.com/office/powerpoint/2010/main" val="10134671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900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EB5DA-311C-4A92-9DDC-706E6DC0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D98AFF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D98AFF"/>
                </a:solidFill>
              </a:defRPr>
            </a:pPr>
            <a:r>
              <a:rPr sz="975" b="1">
                <a:solidFill>
                  <a:srgbClr val="D98AFF"/>
                </a:solidFill>
              </a:rPr>
              <a:t>REGRAS DE NEGÓCIO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106B5-5F82-45C1-8F74-5028E700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37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822AA-06E9-455D-8923-958ACB41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CDBED7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CDBED7"/>
                </a:solidFill>
              </a:defRPr>
            </a:pPr>
            <a:r>
              <a:rPr sz="750" b="0">
                <a:solidFill>
                  <a:srgbClr val="CDBED7"/>
                </a:solidFill>
              </a:rPr>
              <a:t>VALLEX SERVIÇOFÁCIL • APRESENTAÇÃO INICIAL • OUT/2026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AB76E-E260-461C-AE70-77826518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CDBED7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CDBED7"/>
                </a:solidFill>
              </a:defRPr>
            </a:pPr>
            <a:r>
              <a:rPr sz="825" b="1">
                <a:solidFill>
                  <a:srgbClr val="CDBED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B0D78-F836-4EDF-9EB8-24A159F7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O que cada parte faz na plataforma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EE841-F326-488D-8927-E36A0FE0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D98AF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98AFF"/>
                </a:solidFill>
              </a:defRPr>
            </a:pPr>
            <a:r>
              <a:rPr sz="1050" b="1">
                <a:solidFill>
                  <a:srgbClr val="D98AFF"/>
                </a:solidFill>
              </a:rPr>
              <a:t>CLIENTE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473E4-D250-4C8C-A970-11954456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3EAF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3EAF8"/>
                </a:solidFill>
              </a:defRPr>
            </a:pPr>
            <a:r>
              <a:rPr sz="1275" b="0">
                <a:solidFill>
                  <a:srgbClr val="F3EAF8"/>
                </a:solidFill>
              </a:rPr>
              <a:t>Pesquisa, consulta o perfil e envia o pedido; negocia diretamente com o prestador.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1B455-EF14-4097-B1C2-902826DD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D98AF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98AFF"/>
                </a:solidFill>
              </a:defRPr>
            </a:pPr>
            <a:r>
              <a:rPr sz="1050" b="1">
                <a:solidFill>
                  <a:srgbClr val="D98AFF"/>
                </a:solidFill>
              </a:rPr>
              <a:t>PRESTADOR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60065-C7EF-4970-BCF0-D2F2E8FF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3EAF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3EAF8"/>
                </a:solidFill>
              </a:defRPr>
            </a:pPr>
            <a:r>
              <a:rPr sz="1275" b="0">
                <a:solidFill>
                  <a:srgbClr val="F3EAF8"/>
                </a:solidFill>
              </a:rPr>
              <a:t>Mantém os dados, informa disponibilidade, define preço e confirma as condições.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1C14C-EE42-44BC-BBAD-5C65A6B4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D98AF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98AFF"/>
                </a:solidFill>
              </a:defRPr>
            </a:pPr>
            <a:r>
              <a:rPr sz="1050" b="1">
                <a:solidFill>
                  <a:srgbClr val="D98AFF"/>
                </a:solidFill>
              </a:rPr>
              <a:t>VALLEX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6E91F-F9B5-4279-A1F5-A9AB7BD6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3EAF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3EAF8"/>
                </a:solidFill>
              </a:defRPr>
            </a:pPr>
            <a:r>
              <a:rPr sz="1275" b="0">
                <a:solidFill>
                  <a:srgbClr val="F3EAF8"/>
                </a:solidFill>
              </a:rPr>
              <a:t>Disponibiliza a vitrine e as ferramentas; não executa o serviço do prestador.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1B99D-03C1-4399-A3EF-9D8B2394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8CD0B-C7AE-48E1-B725-5BB33CCA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D98AF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98AFF"/>
                </a:solidFill>
              </a:defRPr>
            </a:pPr>
            <a:r>
              <a:rPr sz="1050" b="1">
                <a:solidFill>
                  <a:srgbClr val="D98AFF"/>
                </a:solidFill>
              </a:rPr>
              <a:t>COMBINADOS IMPORTANTES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480DD-DCE6-4DDB-BE90-42FD6CD4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14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11B67-EA97-40B9-B1E6-7D4BAFE5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Pedido de orçamento não é reserva ou contratação.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FEFFD-60DB-45A3-BD6B-C95AB008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38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200C0-7B5A-44E1-8315-82DC9C37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337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Preço, prazo, escopo, local e pagamento do serviço são combinados entre as partes.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6AE6A-4427-4E0B-90BF-BE329A1C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62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F72CC-BB1B-4D69-A03F-3E443677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57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O financeiro registra valores informados; a VALLEX não processa o pagamento do serviço final.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5CDB0-E81E-4842-8845-BC07784D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86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44EA4-3978-4333-A931-C1E77FEF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815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 assinatura dos planos é separada e cobrada via Asaas nos planos pagos.</a:t>
            </a:r>
          </a:p>
        </p:txBody>
      </p:sp>
    </p:spTree>
    <p:extLst>
      <p:ext uri="{BB962C8B-B14F-4D97-AF65-F5344CB8AC3E}">
        <p14:creationId xmlns:p14="http://schemas.microsoft.com/office/powerpoint/2010/main" val="1317224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1FD92C-0AA5-4D4A-BC46-314ADCB346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c910dadb04838"/>
          <a:stretch xmlns:a="http://schemas.openxmlformats.org/drawingml/2006/main"/>
        </p:blipFill>
        <p:spPr>
          <a:xfrm xmlns:a="http://schemas.openxmlformats.org/drawingml/2006/main">
            <a:off x="864846" y="285750"/>
            <a:ext cx="518207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BB68B-474F-46ED-B71A-052CD282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8500D5"/>
                </a:solidFill>
              </a:defRPr>
            </a:pPr>
            <a:r>
              <a:rPr sz="975" b="1">
                <a:solidFill>
                  <a:srgbClr val="8500D5"/>
                </a:solidFill>
              </a:rPr>
              <a:t>PLANOS ATUAIS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94DCF-7838-4459-9BC1-F40AF716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B04A6-CC9A-4203-BCE3-49B9DD38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D5366"/>
                </a:solidFill>
              </a:defRPr>
            </a:pPr>
            <a:r>
              <a:rPr sz="750" b="0">
                <a:solidFill>
                  <a:srgbClr val="5D5366"/>
                </a:solidFill>
              </a:rPr>
              <a:t>VALLEX SERVIÇOFÁCIL • APRESENTAÇÃO INICIAL • OUT/2026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1D147-44C0-4070-9743-4EB16F3F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D5366"/>
                </a:solidFill>
              </a:defRPr>
            </a:pPr>
            <a:r>
              <a:rPr sz="825" b="1">
                <a:solidFill>
                  <a:srgbClr val="5D5366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5C5B1-8D3E-4C40-96E9-8B130415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9002D"/>
                </a:solidFill>
              </a:defRPr>
            </a:pPr>
            <a:r>
              <a:rPr sz="2850" b="1">
                <a:solidFill>
                  <a:srgbClr val="19002D"/>
                </a:solidFill>
              </a:rPr>
              <a:t>Escolha o nível de gestão para o seu momento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F8A25-E75A-483F-B8F7-2AC1CBDD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5366"/>
                </a:solidFill>
              </a:defRPr>
            </a:pPr>
            <a:r>
              <a:rPr sz="1275" b="0">
                <a:solidFill>
                  <a:srgbClr val="5D5366"/>
                </a:solidFill>
              </a:rPr>
              <a:t>Configuração atual do produto, sujeita a atualização comercial.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1081D-2063-46B7-9B38-83041954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83788B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83788B"/>
                </a:solidFill>
              </a:defRPr>
            </a:pPr>
            <a:r>
              <a:rPr sz="1125" b="1">
                <a:solidFill>
                  <a:srgbClr val="83788B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ACD98-FCDA-4B17-8177-06784043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9002D"/>
                </a:solidFill>
              </a:defRPr>
            </a:pPr>
            <a:r>
              <a:rPr sz="2325" b="1">
                <a:solidFill>
                  <a:srgbClr val="19002D"/>
                </a:solidFill>
              </a:rPr>
              <a:t>R$ 0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2FFDB-9A21-4B59-B5BF-06F026ED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5366"/>
                </a:solidFill>
              </a:defRPr>
            </a:pPr>
            <a:r>
              <a:rPr sz="1050" b="0">
                <a:solidFill>
                  <a:srgbClr val="5D5366"/>
                </a:solidFill>
              </a:rPr>
              <a:t>por mês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4E35B-7F1D-4BDD-B951-7A91D253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78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A9ADC-C24B-4C22-84C3-0946C0A1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9002D"/>
                </a:solidFill>
              </a:defRPr>
            </a:pPr>
            <a:r>
              <a:rPr sz="1350" b="1">
                <a:solidFill>
                  <a:srgbClr val="19002D"/>
                </a:solidFill>
              </a:rPr>
              <a:t>1 usuário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C9586-8217-4DD2-8C25-9E9EC5A1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3788B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3788B"/>
                </a:solidFill>
              </a:defRPr>
            </a:pPr>
            <a:r>
              <a:rPr sz="1350" b="1">
                <a:solidFill>
                  <a:srgbClr val="83788B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FA389-6648-4FB3-84E7-3AF1DF3B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196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D5366"/>
                </a:solidFill>
              </a:defRPr>
            </a:pPr>
            <a:r>
              <a:rPr sz="1125" b="0">
                <a:solidFill>
                  <a:srgbClr val="5D5366"/>
                </a:solidFill>
              </a:rPr>
              <a:t>Acesso inicial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A96C1-5353-4ADC-8860-48623C56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3788B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3788B"/>
                </a:solidFill>
              </a:defRPr>
            </a:pPr>
            <a:r>
              <a:rPr sz="1350" b="1">
                <a:solidFill>
                  <a:srgbClr val="83788B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5F887-E808-4E39-A223-4D320E62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625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D5366"/>
                </a:solidFill>
              </a:defRPr>
            </a:pPr>
            <a:r>
              <a:rPr sz="1125" b="0">
                <a:solidFill>
                  <a:srgbClr val="5D5366"/>
                </a:solidFill>
              </a:rPr>
              <a:t>Visualização de solicitações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02366-19B1-421A-B178-0B9A626D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3788B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3788B"/>
                </a:solidFill>
              </a:defRPr>
            </a:pPr>
            <a:r>
              <a:rPr sz="1350" b="1">
                <a:solidFill>
                  <a:srgbClr val="83788B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D3171-98F7-4559-B789-E0A9AF8B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054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D5366"/>
                </a:solidFill>
              </a:defRPr>
            </a:pPr>
            <a:r>
              <a:rPr sz="1125" b="0">
                <a:solidFill>
                  <a:srgbClr val="5D5366"/>
                </a:solidFill>
              </a:rPr>
              <a:t>Sem filtros avançados ou CSV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18FFC-5779-450B-816B-795588C2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09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8500D5"/>
                </a:solidFill>
              </a:defRPr>
            </a:pPr>
            <a:r>
              <a:rPr sz="1125" b="1">
                <a:solidFill>
                  <a:srgbClr val="8500D5"/>
                </a:solidFill>
              </a:rPr>
              <a:t>BASIC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3B69B-323A-4664-B702-5FE068EF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718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9002D"/>
                </a:solidFill>
              </a:defRPr>
            </a:pPr>
            <a:r>
              <a:rPr sz="2325" b="1">
                <a:solidFill>
                  <a:srgbClr val="19002D"/>
                </a:solidFill>
              </a:rPr>
              <a:t>R$ 49,70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81B6A-9271-4432-8103-295BF2E1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194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5366"/>
                </a:solidFill>
              </a:defRPr>
            </a:pPr>
            <a:r>
              <a:rPr sz="1050" b="0">
                <a:solidFill>
                  <a:srgbClr val="5D5366"/>
                </a:solidFill>
              </a:rPr>
              <a:t>por mês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51AAC-F803-4D61-806B-9765F2D8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2905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0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01956-AC30-4311-A3FA-A5E7B74F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29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9002D"/>
                </a:solidFill>
              </a:defRPr>
            </a:pPr>
            <a:r>
              <a:rPr sz="1350" b="1">
                <a:solidFill>
                  <a:srgbClr val="19002D"/>
                </a:solidFill>
              </a:rPr>
              <a:t>Até 3 usuários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D928F4-A8D7-48A2-BF98-7F3E6B27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500D5"/>
                </a:solidFill>
              </a:defRPr>
            </a:pPr>
            <a:r>
              <a:rPr sz="1350" b="1">
                <a:solidFill>
                  <a:srgbClr val="8500D5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F873F7-8C61-4C2D-8C3B-CC035615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196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D5366"/>
                </a:solidFill>
              </a:defRPr>
            </a:pPr>
            <a:r>
              <a:rPr sz="1125" b="0">
                <a:solidFill>
                  <a:srgbClr val="5D5366"/>
                </a:solidFill>
              </a:rPr>
              <a:t>Gerenciar solicitações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654A0-7D72-4AFD-8B11-40A574E4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81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500D5"/>
                </a:solidFill>
              </a:defRPr>
            </a:pPr>
            <a:r>
              <a:rPr sz="1350" b="1">
                <a:solidFill>
                  <a:srgbClr val="8500D5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279100-2E95-4633-A772-9B3A00E6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625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D5366"/>
                </a:solidFill>
              </a:defRPr>
            </a:pPr>
            <a:r>
              <a:rPr sz="1125" b="0">
                <a:solidFill>
                  <a:srgbClr val="5D5366"/>
                </a:solidFill>
              </a:rPr>
              <a:t>Filtrar solicitações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08C6A6-875F-47CE-B7C6-026DD4EB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24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500D5"/>
                </a:solidFill>
              </a:defRPr>
            </a:pPr>
            <a:r>
              <a:rPr sz="1350" b="1">
                <a:solidFill>
                  <a:srgbClr val="8500D5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CF9F2E-C729-49FA-B8E3-199242F7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054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D5366"/>
                </a:solidFill>
              </a:defRPr>
            </a:pPr>
            <a:r>
              <a:rPr sz="1125" b="0">
                <a:solidFill>
                  <a:srgbClr val="5D5366"/>
                </a:solidFill>
              </a:rPr>
              <a:t>Agenda, clientes e financeiro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DCCBB-2028-459C-ACBB-A2ED7D26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4C1D72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C1D72"/>
                </a:solidFill>
              </a:defRPr>
            </a:pPr>
            <a:r>
              <a:rPr sz="1125" b="1">
                <a:solidFill>
                  <a:srgbClr val="4C1D72"/>
                </a:solidFill>
              </a:rPr>
              <a:t>PROFESSIONAL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41E533-924A-4260-81BD-4B4B30C7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9002D"/>
                </a:solidFill>
              </a:defRPr>
            </a:pPr>
            <a:r>
              <a:rPr sz="2325" b="1">
                <a:solidFill>
                  <a:srgbClr val="19002D"/>
                </a:solidFill>
              </a:rPr>
              <a:t>R$ 79,00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EE4C9E-3554-4BDF-8D18-82BF56BA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5366"/>
                </a:solidFill>
              </a:defRPr>
            </a:pPr>
            <a:r>
              <a:rPr sz="1050" b="0">
                <a:solidFill>
                  <a:srgbClr val="5D5366"/>
                </a:solidFill>
              </a:rPr>
              <a:t>por mês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FA9936-2279-4167-BD80-2229EF86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1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3D42DE-2188-4314-907C-491627FD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29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9002D"/>
                </a:solidFill>
              </a:defRPr>
            </a:pPr>
            <a:r>
              <a:rPr sz="1350" b="1">
                <a:solidFill>
                  <a:srgbClr val="19002D"/>
                </a:solidFill>
              </a:rPr>
              <a:t>Até 10 usuários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42B77C-2702-4BA1-B182-77EDC405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4C1D72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C1D72"/>
                </a:solidFill>
              </a:defRPr>
            </a:pPr>
            <a:r>
              <a:rPr sz="1350" b="1">
                <a:solidFill>
                  <a:srgbClr val="4C1D72"/>
                </a:solidFill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24ECDB-DCA9-4FA2-BE6A-7441711F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4196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D5366"/>
                </a:solidFill>
              </a:defRPr>
            </a:pPr>
            <a:r>
              <a:rPr sz="1125" b="0">
                <a:solidFill>
                  <a:srgbClr val="5D5366"/>
                </a:solidFill>
              </a:rPr>
              <a:t>Recursos do Basic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EAD9F2-367A-49D0-8FB6-AFF1AEDC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81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4C1D72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C1D72"/>
                </a:solidFill>
              </a:defRPr>
            </a:pPr>
            <a:r>
              <a:rPr sz="1350" b="1">
                <a:solidFill>
                  <a:srgbClr val="4C1D72"/>
                </a:solidFill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A1F3D0-6F36-4965-B81F-3042B6E2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7625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D5366"/>
                </a:solidFill>
              </a:defRPr>
            </a:pPr>
            <a:r>
              <a:rPr sz="1125" b="0">
                <a:solidFill>
                  <a:srgbClr val="5D5366"/>
                </a:solidFill>
              </a:rPr>
              <a:t>Exportação CSV de solicitações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5BA070-6D72-42A7-B263-7F5BDD63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4C1D72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C1D72"/>
                </a:solidFill>
              </a:defRPr>
            </a:pPr>
            <a:r>
              <a:rPr sz="1350" b="1">
                <a:solidFill>
                  <a:srgbClr val="4C1D72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2F970A-D287-4FB9-825D-5E4912AA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1054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D5366"/>
                </a:solidFill>
              </a:defRPr>
            </a:pPr>
            <a:r>
              <a:rPr sz="1125" b="0">
                <a:solidFill>
                  <a:srgbClr val="5D5366"/>
                </a:solidFill>
              </a:rPr>
              <a:t>Mais capacidade para equipe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FCE631-3663-416B-823E-6EFF8601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5366"/>
                </a:solidFill>
              </a:defRPr>
            </a:pPr>
            <a:r>
              <a:rPr sz="975" b="0">
                <a:solidFill>
                  <a:srgbClr val="5D5366"/>
                </a:solidFill>
              </a:rPr>
              <a:t>Planos pagos: cobrança mensal recorrente via Asaas, com cartão. Confirme condições e disponibilidade antes da contratação.</a:t>
            </a:r>
          </a:p>
        </p:txBody>
      </p:sp>
    </p:spTree>
    <p:extLst>
      <p:ext uri="{BB962C8B-B14F-4D97-AF65-F5344CB8AC3E}">
        <p14:creationId xmlns:p14="http://schemas.microsoft.com/office/powerpoint/2010/main" val="950274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52012-180B-4C25-A162-4C1A1D1E21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36aed46ea4abc"/>
          <a:stretch xmlns:a="http://schemas.openxmlformats.org/drawingml/2006/main"/>
        </p:blipFill>
        <p:spPr>
          <a:xfrm xmlns:a="http://schemas.openxmlformats.org/drawingml/2006/main">
            <a:off x="864846" y="285750"/>
            <a:ext cx="518207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7AB43-2538-4655-96AB-1CE45BB5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8500D5"/>
                </a:solidFill>
              </a:defRPr>
            </a:pPr>
            <a:r>
              <a:rPr sz="975" b="1">
                <a:solidFill>
                  <a:srgbClr val="8500D5"/>
                </a:solidFill>
              </a:rPr>
              <a:t>COMECE COM A VALLEX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7F84A-8D76-438F-99C2-643A6823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858C3-7BDA-4AD9-A645-D40F316A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D5366"/>
                </a:solidFill>
              </a:defRPr>
            </a:pPr>
            <a:r>
              <a:rPr sz="750" b="0">
                <a:solidFill>
                  <a:srgbClr val="5D5366"/>
                </a:solidFill>
              </a:rPr>
              <a:t>VALLEX SERVIÇOFÁCIL • APRESENTAÇÃO INICIAL • OUT/2026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1EF76-FC95-4797-9C4B-9AF42273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D5366"/>
                </a:solidFill>
              </a:defRPr>
            </a:pPr>
            <a:r>
              <a:rPr sz="825" b="1">
                <a:solidFill>
                  <a:srgbClr val="5D5366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D6E1D-0A41-4E48-9D3C-B729A1D4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9002D"/>
                </a:solidFill>
              </a:defRPr>
            </a:pPr>
            <a:r>
              <a:rPr sz="2850" b="1">
                <a:solidFill>
                  <a:srgbClr val="19002D"/>
                </a:solidFill>
              </a:rPr>
              <a:t>Sua rotina profissional pode caber em um só lugar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7D751-C407-4F68-B901-29A7271B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D5366"/>
                </a:solidFill>
              </a:defRPr>
            </a:pPr>
            <a:r>
              <a:rPr sz="1425" b="0">
                <a:solidFill>
                  <a:srgbClr val="5D5366"/>
                </a:solidFill>
              </a:rPr>
              <a:t>Para áreas como manutenção de eletrodomésticos, barbearia, advocacia e serviços técnicos.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FFC13-39E3-4D20-96E8-7473D5A1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0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D83B9-AF64-4E37-A8F1-5ED58994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2D66E-D18A-4E96-BA52-5188295C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002D"/>
                </a:solidFill>
              </a:defRPr>
            </a:pPr>
            <a:r>
              <a:rPr sz="1575" b="1">
                <a:solidFill>
                  <a:srgbClr val="19002D"/>
                </a:solidFill>
              </a:rPr>
              <a:t>Crie sua conta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54831-7E57-4827-9EE6-2BF5CDC4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5366"/>
                </a:solidFill>
              </a:defRPr>
            </a:pPr>
            <a:r>
              <a:rPr sz="1200" b="0">
                <a:solidFill>
                  <a:srgbClr val="5D5366"/>
                </a:solidFill>
              </a:rPr>
              <a:t>Configure os dados do negócio e, se necessário, convide a equipe.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06F13-EEF3-42B0-8687-45193007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1903B-068E-4A12-8146-51B78A78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04CA7-8893-4EF5-A539-D4D9FC31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9975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002D"/>
                </a:solidFill>
              </a:defRPr>
            </a:pPr>
            <a:r>
              <a:rPr sz="1575" b="1">
                <a:solidFill>
                  <a:srgbClr val="19002D"/>
                </a:solidFill>
              </a:rPr>
              <a:t>Monte sua Vitrine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1A2B1-7BF2-451E-938A-F8ECF421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99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5366"/>
                </a:solidFill>
              </a:defRPr>
            </a:pPr>
            <a:r>
              <a:rPr sz="1200" b="0">
                <a:solidFill>
                  <a:srgbClr val="5D5366"/>
                </a:solidFill>
              </a:rPr>
              <a:t>Informe serviços, região atendida e WhatsApp público.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EAAE5-5D76-482D-A534-56C9A9B3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0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6E84A-E8B8-40C7-9E45-DCBC06DD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A8FD6-4D5E-4BCC-A72E-5B58E7A6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38650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9002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002D"/>
                </a:solidFill>
              </a:defRPr>
            </a:pPr>
            <a:r>
              <a:rPr sz="1575" b="1">
                <a:solidFill>
                  <a:srgbClr val="19002D"/>
                </a:solidFill>
              </a:rPr>
              <a:t>Organize os pedidos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5ACAE-FE79-47C4-873D-E05CDE91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386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5366"/>
                </a:solidFill>
              </a:defRPr>
            </a:pPr>
            <a:r>
              <a:rPr sz="1200" b="0">
                <a:solidFill>
                  <a:srgbClr val="5D5366"/>
                </a:solidFill>
              </a:rPr>
              <a:t>Responda solicitações, combine condições e registre atendimentos.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F4165-D617-4A78-8D1D-C3BD8357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24D53-6F5B-49FA-99FA-1D374A6F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292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8500D5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8500D5"/>
                </a:solidFill>
              </a:defRPr>
            </a:pPr>
            <a:r>
              <a:rPr sz="1125" b="1">
                <a:solidFill>
                  <a:srgbClr val="8500D5"/>
                </a:solidFill>
              </a:rPr>
              <a:t>VALLEX ServiçoFácil • Goiânia, GO • vallexbusiness@gmail.com • (62) 98540-8497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6EE48-AA76-4F2D-80A1-E9F47D58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D5366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D5366"/>
                </a:solidFill>
              </a:defRPr>
            </a:pPr>
            <a:r>
              <a:rPr sz="900" b="0">
                <a:solidFill>
                  <a:srgbClr val="5D5366"/>
                </a:solidFill>
              </a:rPr>
              <a:t>Os setores citados são exemplos de uso, não uma afirmação de clientes ativos.</a:t>
            </a:r>
          </a:p>
        </p:txBody>
      </p:sp>
    </p:spTree>
    <p:extLst>
      <p:ext uri="{BB962C8B-B14F-4D97-AF65-F5344CB8AC3E}">
        <p14:creationId xmlns:p14="http://schemas.microsoft.com/office/powerpoint/2010/main" val="1525995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2026-10-14T07:20:04.2320000Z</dcterms:created>
  <dcterms:modified xsi:type="dcterms:W3CDTF">2026-10-14T07:20:04.2320000Z</dcterms:modified>
</coreProperties>
</file>